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DeepTCR for Immunotherapy Response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Relapsed/Refractory B-cell lymphoma • 100-fold Monte Carlo CV</a:t>
            </a:r>
            <a:br/>
            <a:r>
              <a:t>Generated 2026-01-05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What’s in this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2C3E50"/>
                </a:solidFill>
              </a:defRPr>
            </a:pPr>
            <a:r>
              <a:t>Project goal &amp; dataset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Pipeline (scripts 01–13): preprocessing → training → analysis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Model performance (AUC + bootstrap confidence intervals)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Attention-based interpretability + biological insights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Key findings +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7F8C8D"/>
                </a:solidFill>
              </a:defRPr>
            </a:pPr>
            <a:r>
              <a:t>All figures are generated by repository code (PNG exports), not AI-generated images.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2120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Goal: predict immunotherapy response from TCRβ repertoires using DeepTCR (MIL + attention).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Dataset: 34 patients; 239,634 TCRβ sequences.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Labels: 18 responders vs 16 non-responders.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Approach: 100-fold Monte Carlo cross-validation + post-training interpretation.</a:t>
            </a:r>
          </a:p>
        </p:txBody>
      </p:sp>
      <p:pic>
        <p:nvPicPr>
          <p:cNvPr id="5" name="Picture 4" descr="figure3_cohort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234440"/>
            <a:ext cx="5806440" cy="52822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89320" y="6355080"/>
            <a:ext cx="5806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7F8C8D"/>
                </a:solidFill>
              </a:defRPr>
            </a:pPr>
            <a:r>
              <a:t>Cohort overview generated by analysis scripts.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End-to-end pipeline</a:t>
            </a:r>
          </a:p>
        </p:txBody>
      </p:sp>
      <p:pic>
        <p:nvPicPr>
          <p:cNvPr id="4" name="Picture 3" descr="figure1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10881360" cy="38358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4008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7F8C8D"/>
                </a:solidFill>
              </a:defRPr>
            </a:pPr>
            <a:r>
              <a:t>Data loading → preprocessing/encoding → DeepTCR training → post-training analysis → figures/presentation.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Repository work completed (scripts 01–13)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2C3E50"/>
                </a:solidFill>
              </a:defRPr>
            </a:pPr>
            <a:r>
              <a:t>01: environment verification (Python/CUDA/TensorFlow/DeepTCR).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02: load + clean dataset → `data_processed/deeptcr_trb_ready.csv`.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03: EDA → cohort/sequence figures.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04: one-hot encoding → `X_onehot.npy`, labels, patient IDs.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06: 100-fold Monte Carlo training (patient-level splits).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07–12: AUC + bootstrap, attention extraction/plots, R vs NR stats, gene enrichment, top sequences, AA characteristics.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13: generate this PowerPoint.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DeepTCR model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2120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Multiple Instance Learning: a patient = bag of TCR sequences.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CNN embedding of CDR3 sequences.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Attention learns which sequences drive the prediction (interpretability).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Output: binary responder vs non-responder.</a:t>
            </a:r>
          </a:p>
        </p:txBody>
      </p:sp>
      <p:pic>
        <p:nvPicPr>
          <p:cNvPr id="5" name="Picture 4" descr="figure2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234440"/>
            <a:ext cx="5806440" cy="288233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Training setup: 100-fold Monte Carlo CV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2120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100 random patient-level splits (train 75% / test 25%).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Re-estimate performance over many splits to reduce variance from any one partition.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Saved models + logs for reproducibility.</a:t>
            </a:r>
          </a:p>
        </p:txBody>
      </p:sp>
      <p:pic>
        <p:nvPicPr>
          <p:cNvPr id="5" name="Picture 4" descr="figure5_training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234440"/>
            <a:ext cx="5806440" cy="25860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89320" y="6355080"/>
            <a:ext cx="5806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7F8C8D"/>
                </a:solidFill>
              </a:defRPr>
            </a:pPr>
            <a:r>
              <a:t>Training dynamics from training logs/exports.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Performance summary (AUC)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2120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Mean AUC = 0.754 ± 0.035 (SD across folds).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95% bootstrap CI = [0.747, 0.761] (n=1000).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AUC range across folds = [0.658, 0.794].</a:t>
            </a:r>
          </a:p>
        </p:txBody>
      </p:sp>
      <p:pic>
        <p:nvPicPr>
          <p:cNvPr id="5" name="Picture 4" descr="figure4_model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234440"/>
            <a:ext cx="5806440" cy="247833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AUC distribution across folds</a:t>
            </a:r>
          </a:p>
        </p:txBody>
      </p:sp>
      <p:pic>
        <p:nvPicPr>
          <p:cNvPr id="4" name="Picture 3" descr="figureS1_auc_det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10881360" cy="103737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4008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7F8C8D"/>
                </a:solidFill>
              </a:defRPr>
            </a:pPr>
            <a:r>
              <a:t>Fold-wise AUC distribution; generated by post-training analysis scripts.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Attention analysis (interpretability)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2120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High-attention sequences: 2,379 (top 1%).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Attention is sparse: a small subset of sequences explains predictions.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Enables biological follow-up: enriched V/J genes and high-attention clonotypes.</a:t>
            </a:r>
          </a:p>
        </p:txBody>
      </p:sp>
      <p:pic>
        <p:nvPicPr>
          <p:cNvPr id="5" name="Picture 4" descr="figure6_attention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234440"/>
            <a:ext cx="5806440" cy="20510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Attention distributions</a:t>
            </a:r>
          </a:p>
        </p:txBody>
      </p:sp>
      <p:pic>
        <p:nvPicPr>
          <p:cNvPr id="4" name="Picture 3" descr="figure_attention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5577840" cy="2323574"/>
          </a:xfrm>
          <a:prstGeom prst="rect">
            <a:avLst/>
          </a:prstGeom>
        </p:spPr>
      </p:pic>
      <p:pic>
        <p:nvPicPr>
          <p:cNvPr id="5" name="Picture 4" descr="figure6_attention_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234440"/>
            <a:ext cx="5577840" cy="19703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4008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7F8C8D"/>
                </a:solidFill>
              </a:defRPr>
            </a:pPr>
            <a:r>
              <a:t>Left: overall attention distribution. Right: attention by response label.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Responder vs non-responder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2120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Statistical tests on attention/sequence properties (see `results/responder_comparison_stats.csv`).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Attention Mann–Whitney p=1.27e-178 (effect size=0.068)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Additional: CDR3 length distribution tests (KS/t-test) included in results.</a:t>
            </a:r>
          </a:p>
        </p:txBody>
      </p:sp>
      <p:pic>
        <p:nvPicPr>
          <p:cNvPr id="5" name="Picture 4" descr="figure_respond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234440"/>
            <a:ext cx="5806440" cy="494277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V/J gene usage and enrichment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2120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Top enriched V-gene in high-attention sequences: TRBV5-8 (1.54×).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Top enriched J-gene in high-attention sequences: TRBJ2-2 (1.17×).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Gene usage patterns provide interpretable biological signals.</a:t>
            </a:r>
          </a:p>
        </p:txBody>
      </p:sp>
      <p:pic>
        <p:nvPicPr>
          <p:cNvPr id="5" name="Picture 4" descr="figure7_gene_us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234440"/>
            <a:ext cx="5806440" cy="301736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Top predictive sequences (examples)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280160"/>
          <a:ext cx="108813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3560"/>
                <a:gridCol w="1813560"/>
                <a:gridCol w="1813560"/>
                <a:gridCol w="1813560"/>
                <a:gridCol w="1813560"/>
                <a:gridCol w="1813560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CDR3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V gene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J gene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Label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Attention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CASRWEEDTEAFF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TRBV7-9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TRBJ1-1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Responder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0.0041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CASSRGGDFYNEQFF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TRBV3-1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TRBJ2-1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Responder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0.0040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CASSLGRTYEQYF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TRBV27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TRBJ2-7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Responder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0.0037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CASSVTSYNEQFF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TRBV9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TRBJ2-1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Non-Responder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0.0036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CASSLGGETQYF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TRBV11-2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TRBJ2-5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Responder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0.0034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8064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7F8C8D"/>
                </a:solidFill>
              </a:defRPr>
            </a:pPr>
            <a:r>
              <a:t>Showing top 5 rows.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Top sequence patterns (top-100 analysis)</a:t>
            </a:r>
          </a:p>
        </p:txBody>
      </p:sp>
      <p:pic>
        <p:nvPicPr>
          <p:cNvPr id="4" name="Picture 3" descr="figure_top_sequ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10881360" cy="89879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4008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7F8C8D"/>
                </a:solidFill>
              </a:defRPr>
            </a:pPr>
            <a:r>
              <a:t>Summary visualization of the top 100 high-attention sequences.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Sequence characteristics</a:t>
            </a:r>
          </a:p>
        </p:txBody>
      </p:sp>
      <p:pic>
        <p:nvPicPr>
          <p:cNvPr id="4" name="Picture 3" descr="figure_sequence_characteri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10881360" cy="9473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4008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7F8C8D"/>
                </a:solidFill>
              </a:defRPr>
            </a:pPr>
            <a:r>
              <a:t>CDR3 length &amp; amino-acid properties (mean length ~14.47).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Compute optimization (GPU/H100)</a:t>
            </a:r>
          </a:p>
        </p:txBody>
      </p:sp>
      <p:pic>
        <p:nvPicPr>
          <p:cNvPr id="4" name="Picture 3" descr="figureS4_computa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10881360" cy="52045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4008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7F8C8D"/>
                </a:solidFill>
              </a:defRPr>
            </a:pPr>
            <a:r>
              <a:t>Runtime/memory benchmarking and optimized training settings.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2C3E50"/>
                </a:solidFill>
              </a:defRPr>
            </a:pPr>
            <a:r>
              <a:t>DeepTCR achieved mean AUC 0.754 with tight bootstrap CI [0.747, 0.761].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Attention provides interpretability: highlights a small subset of predictive sequences.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Enriched V/J gene usage and top clonotypes are candidates for biological validation.</a:t>
            </a:r>
          </a:p>
          <a:p>
            <a:pPr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End-to-end pipeline is automated and reproducible (scripts 01–13, logs, figures, paper).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