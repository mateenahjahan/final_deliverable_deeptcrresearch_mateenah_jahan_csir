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DeepTCR-based Prediction of CD19 CAR T-cell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Relapsed/Refractory B-cell Lymphoma (rrLBCL)</a:t>
            </a:r>
            <a:br/>
            <a:r>
              <a:t>Supervised MIL + Unsupervised Representation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Background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CD19 CAR T-cell therapy improves rrLBCL outcomes, but many patients relapse or fail to respond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Goal: predict response before therapy using only TCR repertoire features (CDR3 + V/J)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Approach: DeepTCR supervised multiple instance learning (MIL) with attention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Add-on: unsupervised embeddings + UMAP to visualize sequence concepts (Sidhom-style adapted)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Outcome: interpretable model + candidate predictive clonotypes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Patient Cohort: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   34 total patients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   18 responders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   16 non-responders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Therapy context: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   CD19 CAR T-cell therapy (rrLBCL)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TCR Sequences: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   239,637 total sequences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   TRB chain only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   1,786 - 12,272 per patient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Features: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   CDR3 amino acid sequence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   V and J gene usage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Figure 1: Data Processing Pipeline</a:t>
            </a:r>
          </a:p>
        </p:txBody>
      </p:sp>
      <p:pic>
        <p:nvPicPr>
          <p:cNvPr id="4" name="Picture 3" descr="figure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881360" cy="3835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From raw TCR sequencing → TRB extraction → encoding → DeepTCR training → response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Unsupervised Learning Pipeline (Overview)</a:t>
            </a:r>
          </a:p>
        </p:txBody>
      </p:sp>
      <p:pic>
        <p:nvPicPr>
          <p:cNvPr id="4" name="Picture 3" descr="figureS14_unsupervised_pipeline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881360" cy="27203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Unsupervised embedding learns structure without labels; labels are used only for plot coloring/interpretation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Featurization: Unsupervised vs Supervised (Schematics)</a:t>
            </a:r>
          </a:p>
        </p:txBody>
      </p:sp>
      <p:pic>
        <p:nvPicPr>
          <p:cNvPr id="4" name="Picture 3" descr="figureS12_featurization_schema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881360" cy="8078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Connects: input → featurization → embedding → (UMAP) and MIL attention → patient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Figure 2: DeepTCR Architecture (MIL + Attention)</a:t>
            </a:r>
          </a:p>
        </p:txBody>
      </p:sp>
      <p:pic>
        <p:nvPicPr>
          <p:cNvPr id="4" name="Picture 3" descr="figure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881360" cy="54015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MIL treats each patient as a bag of sequences; attention highlights predictive clonotypes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Figure 3: Cohort Overview</a:t>
            </a:r>
          </a:p>
        </p:txBody>
      </p:sp>
      <p:pic>
        <p:nvPicPr>
          <p:cNvPr id="4" name="Picture 3" descr="figure3_cohor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881360" cy="98989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Summary of sequences per patient and cohort characteristics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Monte Carlo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100-fold Monte Carlo Cross-Validation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Each fold: 75% train, 25% test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Random patient-level splits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Prevents overfitting to specific splits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Robust performance estimation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Training time: ~35 minutes (H100 GPU)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Model Performance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Mean AUC: 0.754 +/- 0.035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95% Confidence Interval: [0.747, 0.761]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Consistent performance across 100 folds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Consistent performance across 100 folds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Better than random baseline (AUC=0.5)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Good discriminative ability for clinical use</a:t>
            </a:r>
          </a:p>
        </p:txBody>
      </p:sp>
      <p:pic>
        <p:nvPicPr>
          <p:cNvPr id="5" name="Picture 4" descr="figure4_mode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24588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Figure 5: Training Dynamics</a:t>
            </a:r>
          </a:p>
        </p:txBody>
      </p:sp>
      <p:pic>
        <p:nvPicPr>
          <p:cNvPr id="4" name="Picture 3" descr="figure5_training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88136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Loss/AUC convergence across folds; early stopping behavior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Attention Weight Analysis</a:t>
            </a:r>
          </a:p>
        </p:txBody>
      </p:sp>
      <p:pic>
        <p:nvPicPr>
          <p:cNvPr id="4" name="Picture 3" descr="figure6_attentio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881360" cy="38437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Attention highlights a small subset of predictive clonotypes (interpretability)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Figure 7: V/J Gene Usage Patterns</a:t>
            </a:r>
          </a:p>
        </p:txBody>
      </p:sp>
      <p:pic>
        <p:nvPicPr>
          <p:cNvPr id="4" name="Picture 3" descr="figure7_gene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881360" cy="56545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Gene usage differences and enrichment patterns in high-attention sequences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Figure S7: Top Predictive Sequences</a:t>
            </a:r>
          </a:p>
        </p:txBody>
      </p:sp>
      <p:pic>
        <p:nvPicPr>
          <p:cNvPr id="4" name="Picture 3" descr="figureS7_top_sequ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881360" cy="8987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Top sequences by attention; V/J enrichment; responder vs non-responder distribution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Figure S9: Sequence Characteristics</a:t>
            </a:r>
          </a:p>
        </p:txBody>
      </p:sp>
      <p:pic>
        <p:nvPicPr>
          <p:cNvPr id="4" name="Picture 3" descr="figureS9_sequence_character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881360" cy="9473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Length and amino-acid composition differences for high-attention sequences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Figure S11: Unsupervised Sequence Space (UMAP)</a:t>
            </a:r>
          </a:p>
        </p:txBody>
      </p:sp>
      <p:pic>
        <p:nvPicPr>
          <p:cNvPr id="4" name="Picture 3" descr="figureS11_unsupervised_sequence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881360" cy="43441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R=green, NR=orange; black outline = top attention (supervised importance)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Figure S10: Patient Embedding (PCA)</a:t>
            </a:r>
          </a:p>
        </p:txBody>
      </p:sp>
      <p:pic>
        <p:nvPicPr>
          <p:cNvPr id="4" name="Picture 3" descr="figureS10_unsupervised_patient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881360" cy="79007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Patient-level embedding (mean pooled); colored by response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Findings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Supervised MIL: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   Mean AUC ≈ 0.754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   Attention identifies predictive clonotypes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Unsupervised: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   UMAP visualizes sequence concepts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   Patient embedding provides structural QC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Clinical message: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   Potential pre-therapy biomarker signal from TCR repertoire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Interpretability: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   High-attention sequences map to localized regions in sequence space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Small cohort size (n=34) → needs external validation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No HLA available (unlike Sidhom 2022 TCR+HLA models)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Improve: add more patients, integrate clinical covariates, prospective evaluation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2C3E50"/>
                </a:solidFill>
              </a:defRPr>
            </a:pPr>
            <a:r>
              <a:t>  Biology: validate high-attention clonotypes and motifs experimentally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Questions?</a:t>
            </a:r>
            <a:br/>
            <a:br/>
            <a:r>
              <a:t>DeepTCR supervised MIL + unsupervised visualization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